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IT QUARTERLY BUSINESS REVIEW — Q1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4D2FF"/>
                </a:solidFill>
              </a:rPr>
              <a:t>IT Leadership  |  Board Distribution  |  Confidential</a:t>
            </a:r>
          </a:p>
          <a:p>
            <a:r>
              <a:t>02 April 2025  |  James Wu, CTO  |  David Kim, CISO  |  Angela Brooks, IT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Q1 2025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92846"/>
                </a:solidFill>
              </a:rPr>
              <a:t>Service performance — three SLA categories in BREACH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P1 SLA: 84.2% vs 99.0% — INC0001234 APAC BGP outage drove January/February breaches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P2 SLA: 91.7% vs 95.0% — INC0001789 DataVault API caused February breach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Availability: 99.71% vs 99.9% — 2h 35min APAC outage = 0.29% monthly downtime</a:t>
            </a:r>
          </a:p>
          <a:p>
            <a:pPr/>
            <a:r>
              <a:rPr sz="1800">
                <a:solidFill>
                  <a:srgbClr val="192846"/>
                </a:solidFill>
              </a:rPr>
              <a:t>Key achievements this quarter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ServiceNow Vancouver release — zero post-go-live incidents — 8,412 flows migrated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CMDB coverage: 68% → 78% — Phase 1 discovery patterns deployed</a:t>
            </a:r>
          </a:p>
          <a:p>
            <a:pPr/>
            <a:r>
              <a:rPr sz="1800">
                <a:solidFill>
                  <a:srgbClr val="192846"/>
                </a:solidFill>
              </a:rPr>
              <a:t>Investment decisions required urgently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GPU cluster: 98.1% peak — $220K decision required by January 24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SAN Primary: 9.3 months to full — $310K order needed by March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Compliance by Priority — Jan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13232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5577"/>
                </a:solidFill>
              </a:rPr>
              <a:t>Q1 2025 | Target: P1 99%, P2 95%, P3 90%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H2 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INC0001234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P1 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Ansible gate defect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$142,000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Oracle RAC failover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INC0001789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3h 12min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28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DataVault API rate limit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P3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All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Teams storage exhausted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Capacity Risk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92846"/>
                </a:solidFill>
              </a:rPr>
              <a:t>CRITICAL: GPU-Farm-01 at 98.1% peak — decision required Jan 24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ML training job ML-TRAIN-0047 scheduled Feb — will evict inference pods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Add 4x p3.8xl reserved instances — $220K/yr — board approval needed</a:t>
            </a:r>
          </a:p>
          <a:p>
            <a:pPr/>
            <a:r>
              <a:rPr sz="1800">
                <a:solidFill>
                  <a:srgbClr val="192846"/>
                </a:solidFill>
              </a:rPr>
              <a:t>CRITICAL: VMware-02 APAC at 94.7% CPU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Q2 APAC workloads will cause contention — order by Jan 31</a:t>
            </a:r>
          </a:p>
          <a:p>
            <a:pPr/>
            <a:r>
              <a:rPr sz="1800">
                <a:solidFill>
                  <a:srgbClr val="192846"/>
                </a:solidFill>
              </a:rPr>
              <a:t>HIGH: SAN Primary 9.3 months to full — order by Mar 15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12-week lead time — $310K capex — board approval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P1 Incident Count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13232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5577"/>
                </a:solidFill>
              </a:rPr>
              <a:t>Source: ServiceNow | SLA target 99%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H2 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INC0001234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P1 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Ansible gate defect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$142,000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Oracle RAC failover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INC0001789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3h 12min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28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DataVault API rate limit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P3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All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Teams storage exhausted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CMDB Health Improvement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92846"/>
                </a:solidFill>
              </a:rPr>
              <a:t>Current: CI Accuracy 61.4% vs 90% target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Phase 1 complete: server/DB CI classes improved +9.8pp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Phase 2 Q2 2025: business service mapping (currently 0%)</a:t>
            </a:r>
          </a:p>
          <a:p>
            <a:pPr/>
            <a:r>
              <a:rPr sz="1800">
                <a:solidFill>
                  <a:srgbClr val="192846"/>
                </a:solidFill>
              </a:rPr>
              <a:t>Discovery Coverage: 78.2% vs 95% target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AWS Config integration live: 2,891 cloud CIs at 100% accuracy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Gap: NFS and SAN have 0% discovery — custom patterns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IT Budget vs Actual — Q1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13232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5577"/>
                </a:solidFill>
              </a:rPr>
              <a:t>USD | 4.7% over budget driven by INC0001234 overtime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H2 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INC0001234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P1 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Ansible gate defect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$142,000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Oracle RAC failover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INC0001789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3h 12min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28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DataVault API rate limit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P3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All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Teams storage exhausted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and Compliance Headlines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92846"/>
                </a:solidFill>
              </a:rPr>
              <a:t>ISO 27001: 84.0% compliance — 8 open findings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Lowest domain: A.15 Supplier Relationships 71.4% — DataVault review overdue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CF-2024-001 HIGH: 14 admin accounts without MFA — deadline April 30</a:t>
            </a:r>
          </a:p>
          <a:p>
            <a:pPr/>
            <a:r>
              <a:rPr sz="1800">
                <a:solidFill>
                  <a:srgbClr val="192846"/>
                </a:solidFill>
              </a:rPr>
              <a:t>SOC 2 Type II: Clean opinion — all trust service criteria effective</a:t>
            </a:r>
          </a:p>
          <a:p>
            <a:pPr/>
            <a:r>
              <a:rPr sz="1800">
                <a:solidFill>
                  <a:srgbClr val="192846"/>
                </a:solidFill>
              </a:rPr>
              <a:t>Patch compliance: 97.1% — above 95% policy for first time in 3 quarters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BREACH: ESXi 8.0 at 50% — GPU passthrough conflict — isolated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BREACH: WS2019 at 71.8% — 11 outstanding hosts — in progress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Compliance by Priority — Mar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13232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5577"/>
                </a:solidFill>
              </a:rPr>
              <a:t>Q1 2025 | March | Improvement trend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H2 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INC0001234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P1 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Ansible gate defect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$142,000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Oracle RAC failover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INC0001789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3h 12min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28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DataVault API rate limit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P3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All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Teams storage exhausted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Capacity Risk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92846"/>
                </a:solidFill>
              </a:rPr>
              <a:t>CRITICAL: GPU-Farm-01 at 98.1% peak — decision required Jan 24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ML training job ML-TRAIN-0047 scheduled Feb — will evict inference pods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Add 4x p3.8xl reserved instances — $220K/yr — board approval needed</a:t>
            </a:r>
          </a:p>
          <a:p>
            <a:pPr/>
            <a:r>
              <a:rPr sz="1800">
                <a:solidFill>
                  <a:srgbClr val="192846"/>
                </a:solidFill>
              </a:rPr>
              <a:t>CRITICAL: VMware-02 APAC at 94.7% CPU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Q2 APAC workloads will cause contention — order by Jan 31</a:t>
            </a:r>
          </a:p>
          <a:p>
            <a:pPr/>
            <a:r>
              <a:rPr sz="1800">
                <a:solidFill>
                  <a:srgbClr val="192846"/>
                </a:solidFill>
              </a:rPr>
              <a:t>HIGH: SAN Primary 9.3 months to full — order by Mar 15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12-week lead time — $310K capex — board approval needed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Capacity Risk — Current Utilisation 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13232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5577"/>
                </a:solidFill>
              </a:rPr>
              <a:t>January 2025 | Red &gt;90% CRITICAL | Amber &gt;75%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H2 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INC0001234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P1 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Ansible gate defect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$142,000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Oracle RAC failover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INC0001789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3h 12min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28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DataVault API rate limit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P3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All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Teams storage exhausted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CMDB Health Improvement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92846"/>
                </a:solidFill>
              </a:rPr>
              <a:t>Current: CI Accuracy 61.4% vs 90% target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Phase 1 complete: server/DB CI classes improved +9.8pp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Phase 2 Q2 2025: business service mapping (currently 0%)</a:t>
            </a:r>
          </a:p>
          <a:p>
            <a:pPr/>
            <a:r>
              <a:rPr sz="1800">
                <a:solidFill>
                  <a:srgbClr val="192846"/>
                </a:solidFill>
              </a:rPr>
              <a:t>Discovery Coverage: 78.2% vs 95% target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AWS Config integration live: 2,891 cloud CIs at 100% accuracy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Gap: NFS and SAN have 0% discovery — custom patterns needed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Compliance by Priority — Jan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13232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5577"/>
                </a:solidFill>
              </a:rPr>
              <a:t>Q1 2025 | Target: P1 99%, P2 95%, P3 90%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H2 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INC0001234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P1 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Ansible gate defect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$142,000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Oracle RAC failover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INC0001789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3h 12min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28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DataVault API rate limit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P3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All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Teams storage exhausted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and Compliance Headlines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92846"/>
                </a:solidFill>
              </a:rPr>
              <a:t>ISO 27001: 84.0% compliance — 8 open findings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Lowest domain: A.15 Supplier Relationships 71.4% — DataVault review overdue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CF-2024-001 HIGH: 14 admin accounts without MFA — deadline April 30</a:t>
            </a:r>
          </a:p>
          <a:p>
            <a:pPr/>
            <a:r>
              <a:rPr sz="1800">
                <a:solidFill>
                  <a:srgbClr val="192846"/>
                </a:solidFill>
              </a:rPr>
              <a:t>SOC 2 Type II: Clean opinion — all trust service criteria effective</a:t>
            </a:r>
          </a:p>
          <a:p>
            <a:pPr/>
            <a:r>
              <a:rPr sz="1800">
                <a:solidFill>
                  <a:srgbClr val="192846"/>
                </a:solidFill>
              </a:rPr>
              <a:t>Patch compliance: 97.1% — above 95% policy for first time in 3 quarters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BREACH: ESXi 8.0 at 50% — GPU passthrough conflict — isolated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BREACH: WS2019 at 71.8% — 11 outstanding hosts — in progress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P1 Incident Count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13232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5577"/>
                </a:solidFill>
              </a:rPr>
              <a:t>Source: ServiceNow | SLA target 99%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H2 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INC0001234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P1 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Ansible gate defect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$142,000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Oracle RAC failover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INC0001789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3h 12min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28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DataVault API rate limit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P3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All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Teams storage exhausted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Capacity Risk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92846"/>
                </a:solidFill>
              </a:rPr>
              <a:t>CRITICAL: GPU-Farm-01 at 98.1% peak — decision required Jan 24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ML training job ML-TRAIN-0047 scheduled Feb — will evict inference pods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Add 4x p3.8xl reserved instances — $220K/yr — board approval needed</a:t>
            </a:r>
          </a:p>
          <a:p>
            <a:pPr/>
            <a:r>
              <a:rPr sz="1800">
                <a:solidFill>
                  <a:srgbClr val="192846"/>
                </a:solidFill>
              </a:rPr>
              <a:t>CRITICAL: VMware-02 APAC at 94.7% CPU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Q2 APAC workloads will cause contention — order by Jan 31</a:t>
            </a:r>
          </a:p>
          <a:p>
            <a:pPr/>
            <a:r>
              <a:rPr sz="1800">
                <a:solidFill>
                  <a:srgbClr val="192846"/>
                </a:solidFill>
              </a:rPr>
              <a:t>HIGH: SAN Primary 9.3 months to full — order by Mar 15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12-week lead time — $310K capex — board approval needed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IT Budget vs Actual — Q1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13232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5577"/>
                </a:solidFill>
              </a:rPr>
              <a:t>USD | 4.7% over budget driven by INC0001234 overtime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H2 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INC0001234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P1 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Ansible gate defect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$142,000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Oracle RAC failover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INC0001789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3h 12min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28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DataVault API rate limit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P3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All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Teams storage exhausted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CMDB Health Improvement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92846"/>
                </a:solidFill>
              </a:rPr>
              <a:t>Current: CI Accuracy 61.4% vs 90% target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Phase 1 complete: server/DB CI classes improved +9.8pp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Phase 2 Q2 2025: business service mapping (currently 0%)</a:t>
            </a:r>
          </a:p>
          <a:p>
            <a:pPr/>
            <a:r>
              <a:rPr sz="1800">
                <a:solidFill>
                  <a:srgbClr val="192846"/>
                </a:solidFill>
              </a:rPr>
              <a:t>Discovery Coverage: 78.2% vs 95% target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AWS Config integration live: 2,891 cloud CIs at 100% accuracy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Gap: NFS and SAN have 0% discovery — custom patterns needed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Compliance by Priority — Mar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13232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5577"/>
                </a:solidFill>
              </a:rPr>
              <a:t>Q1 2025 | March | Improvement trend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H2 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INC0001234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P1 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Ansible gate defect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$142,000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Oracle RAC failover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INC0001789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3h 12min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28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DataVault API rate limit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P3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All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Teams storage exhausted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and Compliance Headlines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92846"/>
                </a:solidFill>
              </a:rPr>
              <a:t>ISO 27001: 84.0% compliance — 8 open findings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Lowest domain: A.15 Supplier Relationships 71.4% — DataVault review overdue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CF-2024-001 HIGH: 14 admin accounts without MFA — deadline April 30</a:t>
            </a:r>
          </a:p>
          <a:p>
            <a:pPr/>
            <a:r>
              <a:rPr sz="1800">
                <a:solidFill>
                  <a:srgbClr val="192846"/>
                </a:solidFill>
              </a:rPr>
              <a:t>SOC 2 Type II: Clean opinion — all trust service criteria effective</a:t>
            </a:r>
          </a:p>
          <a:p>
            <a:pPr/>
            <a:r>
              <a:rPr sz="1800">
                <a:solidFill>
                  <a:srgbClr val="192846"/>
                </a:solidFill>
              </a:rPr>
              <a:t>Patch compliance: 97.1% — above 95% policy for first time in 3 quarters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BREACH: ESXi 8.0 at 50% — GPU passthrough conflict — isolated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BREACH: WS2019 at 71.8% — 11 outstanding hosts — in progress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Capacity Risk — Current Utilisation 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13232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5577"/>
                </a:solidFill>
              </a:rPr>
              <a:t>January 2025 | Red &gt;90% CRITICAL | Amber &gt;75%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H2 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INC0001234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P1 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Ansible gate defect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$142,000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Oracle RAC failover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INC0001789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3h 12min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28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DataVault API rate limit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P3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All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Teams storage exhausted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Capacity Risk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92846"/>
                </a:solidFill>
              </a:rPr>
              <a:t>CRITICAL: GPU-Farm-01 at 98.1% peak — decision required Jan 24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ML training job ML-TRAIN-0047 scheduled Feb — will evict inference pods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Add 4x p3.8xl reserved instances — $220K/yr — board approval needed</a:t>
            </a:r>
          </a:p>
          <a:p>
            <a:pPr/>
            <a:r>
              <a:rPr sz="1800">
                <a:solidFill>
                  <a:srgbClr val="192846"/>
                </a:solidFill>
              </a:rPr>
              <a:t>CRITICAL: VMware-02 APAC at 94.7% CPU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Q2 APAC workloads will cause contention — order by Jan 31</a:t>
            </a:r>
          </a:p>
          <a:p>
            <a:pPr/>
            <a:r>
              <a:rPr sz="1800">
                <a:solidFill>
                  <a:srgbClr val="192846"/>
                </a:solidFill>
              </a:rPr>
              <a:t>HIGH: SAN Primary 9.3 months to full — order by Mar 15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12-week lead time — $310K capex — board approval needed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Compliance by Priority — Jan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13232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5577"/>
                </a:solidFill>
              </a:rPr>
              <a:t>Q1 2025 | Target: P1 99%, P2 95%, P3 90%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H2 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INC0001234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P1 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Ansible gate defect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$142,000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Oracle RAC failover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INC0001789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3h 12min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28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DataVault API rate limit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P3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All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Teams storage exhausted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CMDB Health Improvement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92846"/>
                </a:solidFill>
              </a:rPr>
              <a:t>Current: CI Accuracy 61.4% vs 90% target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Phase 1 complete: server/DB CI classes improved +9.8pp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Phase 2 Q2 2025: business service mapping (currently 0%)</a:t>
            </a:r>
          </a:p>
          <a:p>
            <a:pPr/>
            <a:r>
              <a:rPr sz="1800">
                <a:solidFill>
                  <a:srgbClr val="192846"/>
                </a:solidFill>
              </a:rPr>
              <a:t>Discovery Coverage: 78.2% vs 95% target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AWS Config integration live: 2,891 cloud CIs at 100% accuracy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Gap: NFS and SAN have 0% discovery — custom patterns needed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P1 Incident Count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13232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5577"/>
                </a:solidFill>
              </a:rPr>
              <a:t>Source: ServiceNow | SLA target 99%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H2 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INC0001234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P1 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Ansible gate defect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$142,000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Oracle RAC failover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INC0001789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3h 12min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28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DataVault API rate limit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P3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All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Teams storage exhausted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and Compliance Headlines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92846"/>
                </a:solidFill>
              </a:rPr>
              <a:t>ISO 27001: 84.0% compliance — 8 open findings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Lowest domain: A.15 Supplier Relationships 71.4% — DataVault review overdue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CF-2024-001 HIGH: 14 admin accounts without MFA — deadline April 30</a:t>
            </a:r>
          </a:p>
          <a:p>
            <a:pPr/>
            <a:r>
              <a:rPr sz="1800">
                <a:solidFill>
                  <a:srgbClr val="192846"/>
                </a:solidFill>
              </a:rPr>
              <a:t>SOC 2 Type II: Clean opinion — all trust service criteria effective</a:t>
            </a:r>
          </a:p>
          <a:p>
            <a:pPr/>
            <a:r>
              <a:rPr sz="1800">
                <a:solidFill>
                  <a:srgbClr val="192846"/>
                </a:solidFill>
              </a:rPr>
              <a:t>Patch compliance: 97.1% — above 95% policy for first time in 3 quarters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BREACH: ESXi 8.0 at 50% — GPU passthrough conflict — isolated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BREACH: WS2019 at 71.8% — 11 outstanding hosts — in progress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IT Budget vs Actual — Q1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13232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5577"/>
                </a:solidFill>
              </a:rPr>
              <a:t>USD | 4.7% over budget driven by INC0001234 overtime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Infrastructure Utilisation Trends — H2 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Major Incidents Q1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INC0001234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P1 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2h 35min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Ansible gate defect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$142,000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Oracle RAC failover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INC0001789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P2 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3h 12min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28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DataVault API rate limit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INC0002011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P3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All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Teams storage exhausted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Capacity Risk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92846"/>
                </a:solidFill>
              </a:rPr>
              <a:t>CRITICAL: GPU-Farm-01 at 98.1% peak — decision required Jan 24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ML training job ML-TRAIN-0047 scheduled Feb — will evict inference pods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Add 4x p3.8xl reserved instances — $220K/yr — board approval needed</a:t>
            </a:r>
          </a:p>
          <a:p>
            <a:pPr/>
            <a:r>
              <a:rPr sz="1800">
                <a:solidFill>
                  <a:srgbClr val="192846"/>
                </a:solidFill>
              </a:rPr>
              <a:t>CRITICAL: VMware-02 APAC at 94.7% CPU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Q2 APAC workloads will cause contention — order by Jan 31</a:t>
            </a:r>
          </a:p>
          <a:p>
            <a:pPr/>
            <a:r>
              <a:rPr sz="1800">
                <a:solidFill>
                  <a:srgbClr val="192846"/>
                </a:solidFill>
              </a:rPr>
              <a:t>HIGH: SAN Primary 9.3 months to full — order by Mar 15</a:t>
            </a:r>
          </a:p>
          <a:p>
            <a:pPr lvl="1"/>
            <a:r>
              <a:rPr sz="1600">
                <a:solidFill>
                  <a:srgbClr val="192846"/>
                </a:solidFill>
              </a:rPr>
              <a:t>  • 12-week lead time — $310K capex — board approval needed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Q2 2025 Priorities — Decision Register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Deadline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Investment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CRITICAL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GPU Farm p3.8xl reservation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James Wu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2025-01-24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$220K/yr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VMware APAC blade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Angela Brooks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2025-01-31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$84K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SAN Primary expansion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Mike Torres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2025-03-15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$310K capex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Azure Blob backup overflow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Ravi Patel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2025-02-28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$43K/yr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/>
                        <a:t>HIGH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MFA: 14 admin accounts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David Kim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2025-04-30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Staff time only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SLA Performance Q1 2025 vs Target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  <a:gridCol w="1005840"/>
                <a:gridCol w="1005840"/>
                <a:gridCol w="1097280"/>
                <a:gridCol w="100584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Jan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Feb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Mar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Q1 2025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P1 SLA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BREACH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P2 SLA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89.0%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BREACH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P3 SLA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MET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99.68%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99.90%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BREACH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Change 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98.0%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BREACH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Capacity Investment Decisions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97280"/>
                <a:gridCol w="237744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Investment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Decision By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GPU-Farm-01 A100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Add 4x p3.8xl reserved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$220K/yr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2025-01-24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VMware-02 APAC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Order 2x HPE BL460c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$84K 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2025-01-31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SAN 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300TB 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$310K 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2025-03-15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Backup Target ME5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Azure Blob Cool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$43K/yr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2025-02-28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Corrective Actions Register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136"/>
                <a:gridCol w="2451370"/>
                <a:gridCol w="1313234"/>
                <a:gridCol w="1050587"/>
                <a:gridCol w="1050587"/>
                <a:gridCol w="1225685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Due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CA-01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Fix Jenkinsfile CAB approval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Ravi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2025-02-15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In Progress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CA-02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Add BGP community pre-check to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Mike Torres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2025-02-28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In Progress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CF-2024-001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MFA for 14 admin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David Kim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2025-04-30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Open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CF-2024-002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WS2019 patch remediation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Sarah 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2025-03-31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In Progress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CF-2024-004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DataVault supplier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Angela Brooks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2025-03-15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</a:rPr>
                        <a:t>Open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Vendor Performance Scores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Annual scorecard | red = POOR/EXIT, green = EXCELLENT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6949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Patch Compliance by Platform — Q1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Policy 95% within 72h | red = BREACH, green = OK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6949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Q1 2025 Closing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</a:rPr>
              <a:t>• Three SLA categories in BREACH — P1 84.2%, P2 91.7%, Availability 99.71%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</a:rPr>
              <a:t>• INC0001234 APAC BGP outage drove the majority of Q1 breaches ($142K impact)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</a:rPr>
              <a:t>• Key wins: ServiceNow Vancouver (zero post-go-live incidents), CMDB 68% → 78%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</a:rPr>
              <a:t>• Patch compliance above 95% policy for the first time in three quarters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</a:rPr>
              <a:t>• Urgent decisions: GPU cluster $220K by Jan 24, SAN Primary $310K by Mar 15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</a:rPr>
              <a:t>• Q2 focus: close corrective actions CA-01/CA-02, MFA rollout, DataVault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