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4DAD7D-AE24-1564-C667-CA3A024362A5}" v="8" dt="2026-05-11T19:24:40.7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olyn Blake" userId="S::carolyn.blake@servicenow.com::e767b403-7e5c-402b-8f91-f3fed2df70d8" providerId="AD" clId="Web-{934DAD7D-AE24-1564-C667-CA3A024362A5}"/>
    <pc:docChg chg="modSld">
      <pc:chgData name="Carolyn Blake" userId="S::carolyn.blake@servicenow.com::e767b403-7e5c-402b-8f91-f3fed2df70d8" providerId="AD" clId="Web-{934DAD7D-AE24-1564-C667-CA3A024362A5}" dt="2026-05-11T19:24:40.776" v="7" actId="1076"/>
      <pc:docMkLst>
        <pc:docMk/>
      </pc:docMkLst>
      <pc:sldChg chg="modSp">
        <pc:chgData name="Carolyn Blake" userId="S::carolyn.blake@servicenow.com::e767b403-7e5c-402b-8f91-f3fed2df70d8" providerId="AD" clId="Web-{934DAD7D-AE24-1564-C667-CA3A024362A5}" dt="2026-05-11T19:24:26.697" v="0" actId="1076"/>
        <pc:sldMkLst>
          <pc:docMk/>
          <pc:sldMk cId="0" sldId="264"/>
        </pc:sldMkLst>
        <pc:picChg chg="mod">
          <ac:chgData name="Carolyn Blake" userId="S::carolyn.blake@servicenow.com::e767b403-7e5c-402b-8f91-f3fed2df70d8" providerId="AD" clId="Web-{934DAD7D-AE24-1564-C667-CA3A024362A5}" dt="2026-05-11T19:24:26.697" v="0" actId="1076"/>
          <ac:picMkLst>
            <pc:docMk/>
            <pc:sldMk cId="0" sldId="264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934DAD7D-AE24-1564-C667-CA3A024362A5}" dt="2026-05-11T19:24:28.244" v="1" actId="1076"/>
        <pc:sldMkLst>
          <pc:docMk/>
          <pc:sldMk cId="0" sldId="265"/>
        </pc:sldMkLst>
        <pc:picChg chg="mod">
          <ac:chgData name="Carolyn Blake" userId="S::carolyn.blake@servicenow.com::e767b403-7e5c-402b-8f91-f3fed2df70d8" providerId="AD" clId="Web-{934DAD7D-AE24-1564-C667-CA3A024362A5}" dt="2026-05-11T19:24:28.244" v="1" actId="1076"/>
          <ac:picMkLst>
            <pc:docMk/>
            <pc:sldMk cId="0" sldId="265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934DAD7D-AE24-1564-C667-CA3A024362A5}" dt="2026-05-11T19:24:30.401" v="2" actId="1076"/>
        <pc:sldMkLst>
          <pc:docMk/>
          <pc:sldMk cId="0" sldId="266"/>
        </pc:sldMkLst>
        <pc:picChg chg="mod">
          <ac:chgData name="Carolyn Blake" userId="S::carolyn.blake@servicenow.com::e767b403-7e5c-402b-8f91-f3fed2df70d8" providerId="AD" clId="Web-{934DAD7D-AE24-1564-C667-CA3A024362A5}" dt="2026-05-11T19:24:30.401" v="2" actId="1076"/>
          <ac:picMkLst>
            <pc:docMk/>
            <pc:sldMk cId="0" sldId="266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934DAD7D-AE24-1564-C667-CA3A024362A5}" dt="2026-05-11T19:24:32.588" v="3" actId="1076"/>
        <pc:sldMkLst>
          <pc:docMk/>
          <pc:sldMk cId="0" sldId="267"/>
        </pc:sldMkLst>
        <pc:picChg chg="mod">
          <ac:chgData name="Carolyn Blake" userId="S::carolyn.blake@servicenow.com::e767b403-7e5c-402b-8f91-f3fed2df70d8" providerId="AD" clId="Web-{934DAD7D-AE24-1564-C667-CA3A024362A5}" dt="2026-05-11T19:24:32.588" v="3" actId="1076"/>
          <ac:picMkLst>
            <pc:docMk/>
            <pc:sldMk cId="0" sldId="267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934DAD7D-AE24-1564-C667-CA3A024362A5}" dt="2026-05-11T19:24:34.744" v="4" actId="1076"/>
        <pc:sldMkLst>
          <pc:docMk/>
          <pc:sldMk cId="0" sldId="268"/>
        </pc:sldMkLst>
        <pc:picChg chg="mod">
          <ac:chgData name="Carolyn Blake" userId="S::carolyn.blake@servicenow.com::e767b403-7e5c-402b-8f91-f3fed2df70d8" providerId="AD" clId="Web-{934DAD7D-AE24-1564-C667-CA3A024362A5}" dt="2026-05-11T19:24:34.744" v="4" actId="1076"/>
          <ac:picMkLst>
            <pc:docMk/>
            <pc:sldMk cId="0" sldId="268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934DAD7D-AE24-1564-C667-CA3A024362A5}" dt="2026-05-11T19:24:36.526" v="5" actId="1076"/>
        <pc:sldMkLst>
          <pc:docMk/>
          <pc:sldMk cId="0" sldId="269"/>
        </pc:sldMkLst>
        <pc:picChg chg="mod">
          <ac:chgData name="Carolyn Blake" userId="S::carolyn.blake@servicenow.com::e767b403-7e5c-402b-8f91-f3fed2df70d8" providerId="AD" clId="Web-{934DAD7D-AE24-1564-C667-CA3A024362A5}" dt="2026-05-11T19:24:36.526" v="5" actId="1076"/>
          <ac:picMkLst>
            <pc:docMk/>
            <pc:sldMk cId="0" sldId="269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934DAD7D-AE24-1564-C667-CA3A024362A5}" dt="2026-05-11T19:24:38.885" v="6" actId="1076"/>
        <pc:sldMkLst>
          <pc:docMk/>
          <pc:sldMk cId="0" sldId="270"/>
        </pc:sldMkLst>
        <pc:picChg chg="mod">
          <ac:chgData name="Carolyn Blake" userId="S::carolyn.blake@servicenow.com::e767b403-7e5c-402b-8f91-f3fed2df70d8" providerId="AD" clId="Web-{934DAD7D-AE24-1564-C667-CA3A024362A5}" dt="2026-05-11T19:24:38.885" v="6" actId="1076"/>
          <ac:picMkLst>
            <pc:docMk/>
            <pc:sldMk cId="0" sldId="270"/>
            <ac:picMk id="4" creationId="{00000000-0000-0000-0000-000000000000}"/>
          </ac:picMkLst>
        </pc:picChg>
      </pc:sldChg>
      <pc:sldChg chg="modSp">
        <pc:chgData name="Carolyn Blake" userId="S::carolyn.blake@servicenow.com::e767b403-7e5c-402b-8f91-f3fed2df70d8" providerId="AD" clId="Web-{934DAD7D-AE24-1564-C667-CA3A024362A5}" dt="2026-05-11T19:24:40.776" v="7" actId="1076"/>
        <pc:sldMkLst>
          <pc:docMk/>
          <pc:sldMk cId="0" sldId="271"/>
        </pc:sldMkLst>
        <pc:picChg chg="mod">
          <ac:chgData name="Carolyn Blake" userId="S::carolyn.blake@servicenow.com::e767b403-7e5c-402b-8f91-f3fed2df70d8" providerId="AD" clId="Web-{934DAD7D-AE24-1564-C667-CA3A024362A5}" dt="2026-05-11T19:24:40.776" v="7" actId="1076"/>
          <ac:picMkLst>
            <pc:docMk/>
            <pc:sldMk cId="0" sldId="271"/>
            <ac:picMk id="4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0D2D6B"/>
                </a:solidFill>
              </a:rPr>
              <a:t>ANNUAL SECURITY REVIEW — 2024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445577"/>
                </a:solidFill>
              </a:rPr>
              <a:t>Board of Directors and IT Leadership  |  Classification: Restricted</a:t>
            </a:r>
          </a:p>
          <a:p>
            <a:r>
              <a:t>20 January 2025  |  David Kim, CISO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D2D6B"/>
                </a:solidFill>
              </a:rPr>
              <a:t>2024 Security Posture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Overall maturity: Level 2 → Level 2.5 (CMMI)</a:t>
            </a:r>
          </a:p>
          <a:p>
            <a:pPr lvl="1"/>
            <a:r>
              <a:rPr sz="1600"/>
              <a:t>ISO 27001:2022: 84.0% (100/119 controls passed)</a:t>
            </a:r>
          </a:p>
          <a:p>
            <a:pPr lvl="1"/>
            <a:r>
              <a:rPr sz="1600"/>
              <a:t>SOC 2 Type II: clean opinion — effective controls throughout 2024</a:t>
            </a:r>
          </a:p>
          <a:p>
            <a:r>
              <a:rPr sz="1800"/>
              <a:t>Key achievements</a:t>
            </a:r>
          </a:p>
          <a:p>
            <a:pPr lvl="1"/>
            <a:r>
              <a:rPr sz="1600"/>
              <a:t>ZTNA: 1,200 of 1,400 remote workers — VPN replacement in progress</a:t>
            </a:r>
          </a:p>
          <a:p>
            <a:pPr lvl="1"/>
            <a:r>
              <a:rPr sz="1600"/>
              <a:t>CrowdStrike Falcon EDR: 100% of endpoints covered</a:t>
            </a:r>
          </a:p>
          <a:p>
            <a:pPr lvl="1"/>
            <a:r>
              <a:rPr sz="1600"/>
              <a:t>Patch compliance: 88.4% → 97.1% (72-hour policy window)</a:t>
            </a:r>
          </a:p>
          <a:p>
            <a:r>
              <a:rPr sz="1800"/>
              <a:t>Gaps requiring 2025 action</a:t>
            </a:r>
          </a:p>
          <a:p>
            <a:pPr lvl="1"/>
            <a:r>
              <a:rPr sz="1600"/>
              <a:t>14 admin accounts without MFA — CF-2024-001 High finding</a:t>
            </a:r>
          </a:p>
          <a:p>
            <a:pPr lvl="1"/>
            <a:r>
              <a:rPr sz="1600"/>
              <a:t>CMDB at 61.4% — cannot correlate assets to vulnerabilities effectively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D2D6B"/>
                </a:solidFill>
              </a:rPr>
              <a:t>ISO 27001 Compliance by Domain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Ernst and Young LLP — Q4 2024 audit</a:t>
            </a:r>
          </a:p>
          <a:p>
            <a:pPr lvl="1"/>
            <a:r>
              <a:rPr sz="1600"/>
              <a:t>2 domains at 100%: A.5 Policies, A.10 Cryptography, SOC 2 A1</a:t>
            </a:r>
          </a:p>
          <a:p>
            <a:pPr lvl="1"/>
            <a:r>
              <a:rPr sz="1600"/>
              <a:t>Lowest domain: A.15 Supplier Relationships — 71.4% — DataVault gap</a:t>
            </a:r>
          </a:p>
          <a:p>
            <a:pPr lvl="1"/>
            <a:r>
              <a:rPr sz="1600"/>
              <a:t>A.9 Access Control: 83.3% — 14 admin accounts without MFA (HIGH)</a:t>
            </a:r>
          </a:p>
          <a:p>
            <a:r>
              <a:rPr sz="1800"/>
              <a:t>Remediation actions</a:t>
            </a:r>
          </a:p>
          <a:p>
            <a:pPr lvl="1"/>
            <a:r>
              <a:rPr sz="1600"/>
              <a:t>MFA enforcement: April 30, 2025 — CISO mandate</a:t>
            </a:r>
          </a:p>
          <a:p>
            <a:pPr lvl="1"/>
            <a:r>
              <a:rPr sz="1600"/>
              <a:t>DataVault annual review: March 31, 2025</a:t>
            </a:r>
          </a:p>
          <a:p>
            <a:pPr lvl="1"/>
            <a:r>
              <a:rPr sz="1600"/>
              <a:t>Access Control: stale accounts — April 30, 2025 (CF-2024-001, CF-2024-006)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D2D6B"/>
                </a:solidFill>
              </a:rPr>
              <a:t>Vulnerability Management 2024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Critical vulnerabilities (CVSS ≥ 9.0) — 2024 summary</a:t>
            </a:r>
          </a:p>
          <a:p>
            <a:pPr lvl="1"/>
            <a:r>
              <a:rPr sz="1600"/>
              <a:t>Identified: 28 critical CVEs affecting production systems</a:t>
            </a:r>
          </a:p>
          <a:p>
            <a:pPr lvl="1"/>
            <a:r>
              <a:rPr sz="1600"/>
              <a:t>Remediated within 72hr: 26 of 28 (92.9%)</a:t>
            </a:r>
          </a:p>
          <a:p>
            <a:pPr lvl="1"/>
            <a:r>
              <a:rPr sz="1600"/>
              <a:t>Outstanding: Log4Shell (CVE-2021-44228) — 3 legacy Java apps isolated</a:t>
            </a:r>
          </a:p>
          <a:p>
            <a:r>
              <a:rPr sz="1800"/>
              <a:t>January 2025 emergency cycle</a:t>
            </a:r>
          </a:p>
          <a:p>
            <a:pPr lvl="1"/>
            <a:r>
              <a:rPr sz="1600"/>
              <a:t>CVE-2024-21413 (9.8): all 14 Exchange servers patched within 24hr</a:t>
            </a:r>
          </a:p>
          <a:p>
            <a:pPr lvl="1"/>
            <a:r>
              <a:rPr sz="1600"/>
              <a:t>CVE-2024-43461 (9.1): 3,218 endpoints — 96.6% complete, 110 outstanding</a:t>
            </a:r>
          </a:p>
          <a:p>
            <a:pPr lvl="1"/>
            <a:r>
              <a:rPr sz="1600"/>
              <a:t>CVE-2024-38112 (8.9): WS2019 — 71.8% compliant — BREACH status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D2D6B"/>
                </a:solidFill>
              </a:rPr>
              <a:t>Zero Trust and Identity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ZTNA deployment progress</a:t>
            </a:r>
          </a:p>
          <a:p>
            <a:pPr lvl="1"/>
            <a:r>
              <a:rPr sz="1600"/>
              <a:t>Deployed: 85.7% of remote workers (1,200 of 1,400)</a:t>
            </a:r>
          </a:p>
          <a:p>
            <a:pPr lvl="1"/>
            <a:r>
              <a:rPr sz="1600"/>
              <a:t>Remaining 200: legacy app dependency — ZTNA migration March 31, 2025</a:t>
            </a:r>
          </a:p>
          <a:p>
            <a:r>
              <a:rPr sz="1800"/>
              <a:t>MFA coverage</a:t>
            </a:r>
          </a:p>
          <a:p>
            <a:pPr lvl="1"/>
            <a:r>
              <a:rPr sz="1600"/>
              <a:t>End users: 99.6% enrolled (3 on medical exemption)</a:t>
            </a:r>
          </a:p>
          <a:p>
            <a:pPr lvl="1"/>
            <a:r>
              <a:rPr sz="1600"/>
              <a:t>Admin accounts: 93.8% — 14 outstanding — hard deadline April 30, 2025</a:t>
            </a:r>
          </a:p>
          <a:p>
            <a:r>
              <a:rPr sz="1800"/>
              <a:t>Privileged Access Management</a:t>
            </a:r>
          </a:p>
          <a:p>
            <a:pPr lvl="1"/>
            <a:r>
              <a:rPr sz="1600"/>
              <a:t>CyberArk PAM: all Domain Admin, DBA, and Network Admin roles</a:t>
            </a:r>
          </a:p>
          <a:p>
            <a:pPr lvl="1"/>
            <a:r>
              <a:rPr sz="1600"/>
              <a:t>Session recording: 100% of privileged sessions — reviewed monthly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D2D6B"/>
                </a:solidFill>
              </a:rPr>
              <a:t>Incident Response Summary 2024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Confirmed incidents by severity</a:t>
            </a:r>
          </a:p>
          <a:p>
            <a:pPr lvl="1"/>
            <a:r>
              <a:rPr sz="1600"/>
              <a:t>Critical: 0 confirmed (3 investigated — all false positive)</a:t>
            </a:r>
          </a:p>
          <a:p>
            <a:pPr lvl="1"/>
            <a:r>
              <a:rPr sz="1600"/>
              <a:t>High: 4 confirmed (ransomware attempt, phishing ×2, privilege escalation)</a:t>
            </a:r>
          </a:p>
          <a:p>
            <a:pPr lvl="1"/>
            <a:r>
              <a:rPr sz="1600"/>
              <a:t>Medium: 14 confirmed (misconfiguration and policy violations)</a:t>
            </a:r>
          </a:p>
          <a:p>
            <a:r>
              <a:rPr sz="1800"/>
              <a:t>Detection and response metrics</a:t>
            </a:r>
          </a:p>
          <a:p>
            <a:pPr lvl="1"/>
            <a:r>
              <a:rPr sz="1600"/>
              <a:t>MTTD (High/Critical): 4.2 hours</a:t>
            </a:r>
          </a:p>
          <a:p>
            <a:pPr lvl="1"/>
            <a:r>
              <a:rPr sz="1600"/>
              <a:t>MTTR (High/Critical): 1.8 hours</a:t>
            </a:r>
          </a:p>
          <a:p>
            <a:r>
              <a:rPr sz="1800"/>
              <a:t>GDPR notifications</a:t>
            </a:r>
          </a:p>
          <a:p>
            <a:pPr lvl="1"/>
            <a:r>
              <a:rPr sz="1600"/>
              <a:t>3 incidents requiring notification — 2 within 72-hour ICO window, 1 late (CF-2024-003)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D2D6B"/>
                </a:solidFill>
              </a:rPr>
              <a:t>2025 Security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Q1 2025 — Foundation building</a:t>
            </a:r>
          </a:p>
          <a:p>
            <a:pPr lvl="1"/>
            <a:r>
              <a:rPr sz="1600"/>
              <a:t>MFA enforcement: 14 admin accounts — April 30 hard deadline (CISO mandate)</a:t>
            </a:r>
          </a:p>
          <a:p>
            <a:pPr lvl="1"/>
            <a:r>
              <a:rPr sz="1600"/>
              <a:t>ZTNA completion: 200 remaining VPN users — March 31</a:t>
            </a:r>
          </a:p>
          <a:p>
            <a:pPr lvl="1"/>
            <a:r>
              <a:rPr sz="1600"/>
              <a:t>Log4Shell remediation: legacy Java apps — February 28 deadline</a:t>
            </a:r>
          </a:p>
          <a:p>
            <a:r>
              <a:rPr sz="1800"/>
              <a:t>Q2 2025 — Capability improvement</a:t>
            </a:r>
          </a:p>
          <a:p>
            <a:pPr lvl="1"/>
            <a:r>
              <a:rPr sz="1600"/>
              <a:t>CMDB accuracy to 80%: enables vulnerability-to-asset correlation</a:t>
            </a:r>
          </a:p>
          <a:p>
            <a:pPr lvl="1"/>
            <a:r>
              <a:rPr sz="1600"/>
              <a:t>All vendor security reviews completed — June 30</a:t>
            </a:r>
          </a:p>
          <a:p>
            <a:r>
              <a:rPr sz="1800"/>
              <a:t>Q3-Q4 2025 — Transformation</a:t>
            </a:r>
          </a:p>
          <a:p>
            <a:pPr lvl="1"/>
            <a:r>
              <a:rPr sz="1600"/>
              <a:t>CNAPP deployment: cloud-native application protection platform</a:t>
            </a:r>
          </a:p>
          <a:p>
            <a:pPr lvl="1"/>
            <a:r>
              <a:rPr sz="1600"/>
              <a:t>ISO 27001 recertification audit — October 2025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D2D6B"/>
                </a:solidFill>
              </a:rPr>
              <a:t>ISO 27001 Compliance Summary — Q4 2024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8412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Domain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Controls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Passed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Failed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Exceptions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Compliance</a:t>
                      </a:r>
                    </a:p>
                  </a:txBody>
                  <a:tcPr>
                    <a:solidFill>
                      <a:srgbClr val="0D2D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1200"/>
                        <a:t>A.5 Policies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4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4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100%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1200"/>
                        <a:t>A.6 Organisation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85.7%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1200"/>
                        <a:t>A.9 Access Control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18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15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1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83.3%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1200"/>
                        <a:t>A.10 Cryptography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1200"/>
                        <a:t>A.15 Suppliers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7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5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1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1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71.4%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1200"/>
                        <a:t>A.16 Incidents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80.0%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1200"/>
                        <a:t>A.17 Bus. Continuity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9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7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77.8%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1200"/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119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/>
                        <a:t>84.0%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Vulnerability Count by Severity — 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Identified vs remediated | Source: Nessus Pro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9138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Incident MTTD and MTTR Trend — FY2024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High and Critical incidents only | Hours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96763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Security Incident Volume — FY2024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By severity | Source: CrowdStrike + ServiceNow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743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Security Patch Compliance Trend — FY2024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72-hour window | Policy: 95%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9138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MFA Enrollment Rate by User Category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Target: 100% — April 30, 2025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743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Vulnerability Remediation SLA — FY2024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% remediated within policy window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743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Vulnerability Count by Severity — 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Identified vs remediated | Source: Nessus Pro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743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Incident MTTD and MTTR Trend — FY2024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High and Critical incidents only | Hours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743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Security Incident Volume — FY2024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By severity | Source: CrowdStrike + ServiceNow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Security Patch Compliance Trend — FY2024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72-hour window | Policy: 95%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MFA Enrollment Rate by User Category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Target: 100% — April 30, 2025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Vulnerability Remediation SLA — FY2024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% remediated within policy window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Vulnerability Count by Severity — 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Identified vs remediated | Source: Nessus Pro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Incident MTTD and MTTR Trend — FY2024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High and Critical incidents only | Hours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Security Incident Volume — FY2024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By severity | Source: CrowdStrike + ServiceNow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Security Patch Compliance Trend — FY2024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72-hour window | Policy: 95%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MFA Enrollment Rate by User Category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Target: 100% — April 30, 2025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Vulnerability Remediation SLA — FY2024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% remediated within policy window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Vulnerability Count by Severity — 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Identified vs remediated | Source: Nessus Pro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Incident MTTD and MTTR Trend — FY2024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High and Critical incidents only | Hours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Security Incident Volume — FY2024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By severity | Source: CrowdStrike + ServiceNow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Security Patch Compliance Trend — FY2024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72-hour window | Policy: 95%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MFA Enrollment Rate by User Category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Target: 100% — April 30, 2025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Vulnerability Remediation SLA — FY2024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% remediated within policy window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Vulnerability Count by Severity — 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Identified vs remediated | Source: Nessus Pro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Incident MTTD and MTTR Trend — FY2024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High and Critical incidents only | Hours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Security Incident Volume — FY2024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By severity | Source: CrowdStrike + ServiceNow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Security Patch Compliance Trend — FY2024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72-hour window | Policy: 95%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MFA Enrollment Rate by User Category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Target: 100% — April 30, 2025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Vulnerability Remediation SLA — FY2024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% remediated within policy window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Vulnerability Count by Severity — 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Identified vs remediated | Source: Nessus Pro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Incident MTTD and MTTR Trend — FY2024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High and Critical incidents only | Hours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Security Incident Volume — FY2024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By severity | Source: CrowdStrike + ServiceNow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Security Patch Compliance Trend — FY2024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72-hour window | Policy: 95%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D2D6B"/>
                </a:solidFill>
              </a:rPr>
              <a:t>MFA Enrollment Rate by User Category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45577"/>
                </a:solidFill>
              </a:rPr>
              <a:t>Target: 100% — April 30, 2025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8595360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43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4" baseType="lpstr">
      <vt:lpstr>Office Theme</vt:lpstr>
      <vt:lpstr>ANNUAL SECURITY REVIEW — 2024</vt:lpstr>
      <vt:lpstr>2024 Security Posture Overview</vt:lpstr>
      <vt:lpstr>ISO 27001 Compliance by Domain</vt:lpstr>
      <vt:lpstr>Vulnerability Management 2024</vt:lpstr>
      <vt:lpstr>Zero Trust and Identity Progress</vt:lpstr>
      <vt:lpstr>Incident Response Summary 2024</vt:lpstr>
      <vt:lpstr>2025 Security Roadmap</vt:lpstr>
      <vt:lpstr>ISO 27001 Compliance Summary — Q4 2024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4</cp:revision>
  <dcterms:created xsi:type="dcterms:W3CDTF">2013-01-27T09:14:16Z</dcterms:created>
  <dcterms:modified xsi:type="dcterms:W3CDTF">2026-05-11T19:24:42Z</dcterms:modified>
  <cp:category/>
</cp:coreProperties>
</file>